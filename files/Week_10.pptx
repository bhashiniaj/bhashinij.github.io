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2" r:id="rId1"/>
  </p:sldMasterIdLst>
  <p:sldIdLst>
    <p:sldId id="259" r:id="rId2"/>
    <p:sldId id="261" r:id="rId3"/>
    <p:sldId id="256" r:id="rId4"/>
    <p:sldId id="258" r:id="rId5"/>
    <p:sldId id="257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FF"/>
    <a:srgbClr val="CC3399"/>
    <a:srgbClr val="008000"/>
    <a:srgbClr val="9C93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F2EEF-93DD-428E-9CFF-84B17EC6FB65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3FFC4-DC31-4854-9AAF-E363BAF75C89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8972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F2EEF-93DD-428E-9CFF-84B17EC6FB65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3FFC4-DC31-4854-9AAF-E363BAF75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849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F2EEF-93DD-428E-9CFF-84B17EC6FB65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3FFC4-DC31-4854-9AAF-E363BAF75C89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7652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F2EEF-93DD-428E-9CFF-84B17EC6FB65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3FFC4-DC31-4854-9AAF-E363BAF75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402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F2EEF-93DD-428E-9CFF-84B17EC6FB65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3FFC4-DC31-4854-9AAF-E363BAF75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698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F2EEF-93DD-428E-9CFF-84B17EC6FB65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3FFC4-DC31-4854-9AAF-E363BAF75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889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F2EEF-93DD-428E-9CFF-84B17EC6FB65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3FFC4-DC31-4854-9AAF-E363BAF75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204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54F2EEF-93DD-428E-9CFF-84B17EC6FB65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E23FFC4-DC31-4854-9AAF-E363BAF75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533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F2EEF-93DD-428E-9CFF-84B17EC6FB65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3FFC4-DC31-4854-9AAF-E363BAF75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746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F2EEF-93DD-428E-9CFF-84B17EC6FB65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3FFC4-DC31-4854-9AAF-E363BAF75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009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F2EEF-93DD-428E-9CFF-84B17EC6FB65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3FFC4-DC31-4854-9AAF-E363BAF75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383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54F2EEF-93DD-428E-9CFF-84B17EC6FB65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E23FFC4-DC31-4854-9AAF-E363BAF75C89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7882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1976" y="2313111"/>
            <a:ext cx="10360152" cy="978729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ctr">
            <a:spAutoFit/>
          </a:bodyPr>
          <a:lstStyle/>
          <a:p>
            <a:pPr algn="ctr"/>
            <a:r>
              <a:rPr sz="6000" b="1" dirty="0">
                <a:solidFill>
                  <a:srgbClr val="0070C0"/>
                </a:solidFill>
                <a:latin typeface="Calibri"/>
              </a:rPr>
              <a:t>Prototype PCB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5924" y="3384573"/>
            <a:ext cx="10360152" cy="363176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ctr">
            <a:spAutoFit/>
          </a:bodyPr>
          <a:lstStyle/>
          <a:p>
            <a:pPr algn="ctr"/>
            <a:r>
              <a:rPr sz="2000" b="0" dirty="0">
                <a:solidFill>
                  <a:srgbClr val="333333"/>
                </a:solidFill>
                <a:latin typeface="Calibri"/>
              </a:rPr>
              <a:t>Week 11 — PV Integrated EV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3DBEA-81EA-4338-B29D-1FB9D7240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63526"/>
            <a:ext cx="10058400" cy="1450757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Component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F16EFA-1C3F-497C-83A1-C61E8A0AD3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18969" y="2132605"/>
            <a:ext cx="4937760" cy="4023360"/>
          </a:xfrm>
        </p:spPr>
        <p:txBody>
          <a:bodyPr>
            <a:normAutofit fontScale="8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2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PV Panel — 17.93V, 20W </a:t>
            </a:r>
          </a:p>
          <a:p>
            <a:pPr marL="0" marR="0" lvl="0" indent="0" algn="l" defTabSz="914400" rtl="0" eaLnBrk="0" fontAlgn="base" latinLnBrk="0" hangingPunct="0">
              <a:lnSpc>
                <a:spcPct val="2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Inductor (L) — 2200µH, hand-wound toroidal </a:t>
            </a:r>
          </a:p>
          <a:p>
            <a:pPr marL="0" marR="0" lvl="0" indent="0" algn="l" defTabSz="914400" rtl="0" eaLnBrk="0" fontAlgn="base" latinLnBrk="0" hangingPunct="0">
              <a:lnSpc>
                <a:spcPct val="2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Diode — MBR10100CT (Schottky) </a:t>
            </a:r>
          </a:p>
          <a:p>
            <a:pPr marL="0" marR="0" lvl="0" indent="0" algn="l" defTabSz="914400" rtl="0" eaLnBrk="0" fontAlgn="base" latinLnBrk="0" hangingPunct="0">
              <a:lnSpc>
                <a:spcPct val="2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Capacitor (C) — 33µF / 100V </a:t>
            </a:r>
          </a:p>
          <a:p>
            <a:pPr marL="0" marR="0" lvl="0" indent="0" algn="l" defTabSz="914400" rtl="0" eaLnBrk="0" fontAlgn="base" latinLnBrk="0" hangingPunct="0">
              <a:lnSpc>
                <a:spcPct val="2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MOSFET — IRF540N </a:t>
            </a:r>
          </a:p>
          <a:p>
            <a:pPr marL="0" marR="0" lvl="0" indent="0" algn="l" defTabSz="914400" rtl="0" eaLnBrk="0" fontAlgn="base" latinLnBrk="0" hangingPunct="0">
              <a:lnSpc>
                <a:spcPct val="2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Load resistor — 120Ω / 25W </a:t>
            </a:r>
          </a:p>
          <a:p>
            <a:pPr>
              <a:lnSpc>
                <a:spcPct val="220000"/>
              </a:lnSpc>
            </a:pPr>
            <a:endParaRPr lang="en-US" sz="2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405F90-DC84-4BF8-8D27-1D70738E04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68932" y="1714283"/>
            <a:ext cx="4937760" cy="4023360"/>
          </a:xfrm>
        </p:spPr>
        <p:txBody>
          <a:bodyPr>
            <a:normAutofit fontScale="8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Gate driver — IR2110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Microcontroller — Arduino Uno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Gate resistor — 10Ω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Gate pull-down resistor — 10kΩ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R1 (feedback divider) — 100kΩ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R2 (feedback divider) — 10kΩ 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72726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D84A4-AB6D-43DF-AF1E-2748042157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4316" y="65937"/>
            <a:ext cx="9144000" cy="1197069"/>
          </a:xfrm>
        </p:spPr>
        <p:txBody>
          <a:bodyPr>
            <a:normAutofit/>
          </a:bodyPr>
          <a:lstStyle/>
          <a:p>
            <a:r>
              <a:rPr lang="en-US" sz="3600" b="1" dirty="0"/>
              <a:t>MBR10100CT Diode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488C90-A2D1-4A61-9AA3-4A99FF5873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298" y="1372809"/>
            <a:ext cx="2903472" cy="36350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0CB4C39-FED9-44FC-A555-A60B19483B1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716"/>
          <a:stretch/>
        </p:blipFill>
        <p:spPr>
          <a:xfrm>
            <a:off x="7665734" y="1792941"/>
            <a:ext cx="2822971" cy="3107892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A6E0917A-8A98-4AE3-A0E6-6A13CC966E5B}"/>
              </a:ext>
            </a:extLst>
          </p:cNvPr>
          <p:cNvSpPr txBox="1">
            <a:spLocks/>
          </p:cNvSpPr>
          <p:nvPr/>
        </p:nvSpPr>
        <p:spPr>
          <a:xfrm>
            <a:off x="4095770" y="65937"/>
            <a:ext cx="9144000" cy="11970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/>
              <a:t>IR2110 </a:t>
            </a:r>
            <a:r>
              <a:rPr lang="en-US" sz="3600" b="1" dirty="0" err="1"/>
              <a:t>Gatedriver</a:t>
            </a:r>
            <a:endParaRPr lang="en-US" sz="36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12112" y="5379355"/>
            <a:ext cx="2331720" cy="81253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rgbClr val="B0B8C4"/>
            </a:solidFill>
          </a:ln>
          <a:effectLst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600" b="0" dirty="0">
                <a:solidFill>
                  <a:srgbClr val="00B050"/>
                </a:solidFill>
                <a:latin typeface="Calibri"/>
              </a:rPr>
              <a:t>Pin 1 (Anode) → Switching node</a:t>
            </a:r>
          </a:p>
          <a:p>
            <a:pPr algn="l"/>
            <a:r>
              <a:rPr sz="1600" b="0" dirty="0">
                <a:solidFill>
                  <a:srgbClr val="00B050"/>
                </a:solidFill>
                <a:latin typeface="Calibri"/>
              </a:rPr>
              <a:t>(L1 / Q2 Drain)</a:t>
            </a:r>
          </a:p>
        </p:txBody>
      </p:sp>
      <p:cxnSp>
        <p:nvCxnSpPr>
          <p:cNvPr id="10" name="Connector 9"/>
          <p:cNvCxnSpPr>
            <a:cxnSpLocks/>
          </p:cNvCxnSpPr>
          <p:nvPr/>
        </p:nvCxnSpPr>
        <p:spPr>
          <a:xfrm flipV="1">
            <a:off x="672353" y="3630705"/>
            <a:ext cx="1228165" cy="1678140"/>
          </a:xfrm>
          <a:prstGeom prst="line">
            <a:avLst/>
          </a:prstGeom>
          <a:ln w="15875">
            <a:solidFill>
              <a:srgbClr val="FF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984799" y="5538381"/>
            <a:ext cx="2331720" cy="6278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B0B8C4"/>
            </a:solidFill>
          </a:ln>
          <a:effectLst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b="0" dirty="0">
                <a:solidFill>
                  <a:srgbClr val="7030A0"/>
                </a:solidFill>
                <a:latin typeface="Calibri"/>
              </a:rPr>
              <a:t>Pin 2 (Cathode) → Output rail</a:t>
            </a:r>
          </a:p>
        </p:txBody>
      </p:sp>
      <p:cxnSp>
        <p:nvCxnSpPr>
          <p:cNvPr id="12" name="Connector 11"/>
          <p:cNvCxnSpPr>
            <a:cxnSpLocks/>
          </p:cNvCxnSpPr>
          <p:nvPr/>
        </p:nvCxnSpPr>
        <p:spPr>
          <a:xfrm flipH="1" flipV="1">
            <a:off x="2187390" y="3863787"/>
            <a:ext cx="1667434" cy="1621404"/>
          </a:xfrm>
          <a:prstGeom prst="line">
            <a:avLst/>
          </a:prstGeom>
          <a:ln w="15875">
            <a:solidFill>
              <a:srgbClr val="FF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9">
            <a:extLst>
              <a:ext uri="{FF2B5EF4-FFF2-40B4-BE49-F238E27FC236}">
                <a16:creationId xmlns:a16="http://schemas.microsoft.com/office/drawing/2014/main" id="{8A8573B3-8050-4C9F-9F21-730EEE9D06E7}"/>
              </a:ext>
            </a:extLst>
          </p:cNvPr>
          <p:cNvCxnSpPr>
            <a:cxnSpLocks/>
          </p:cNvCxnSpPr>
          <p:nvPr/>
        </p:nvCxnSpPr>
        <p:spPr>
          <a:xfrm>
            <a:off x="7136578" y="2346470"/>
            <a:ext cx="803238" cy="0"/>
          </a:xfrm>
          <a:prstGeom prst="line">
            <a:avLst/>
          </a:prstGeom>
          <a:ln w="15875">
            <a:solidFill>
              <a:srgbClr val="FF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9">
            <a:extLst>
              <a:ext uri="{FF2B5EF4-FFF2-40B4-BE49-F238E27FC236}">
                <a16:creationId xmlns:a16="http://schemas.microsoft.com/office/drawing/2014/main" id="{DAC6D3DB-3323-4022-A21F-14DAA54A30B0}"/>
              </a:ext>
            </a:extLst>
          </p:cNvPr>
          <p:cNvCxnSpPr>
            <a:cxnSpLocks/>
          </p:cNvCxnSpPr>
          <p:nvPr/>
        </p:nvCxnSpPr>
        <p:spPr>
          <a:xfrm flipV="1">
            <a:off x="6723529" y="3092193"/>
            <a:ext cx="1216287" cy="538512"/>
          </a:xfrm>
          <a:prstGeom prst="line">
            <a:avLst/>
          </a:prstGeom>
          <a:ln w="15875">
            <a:solidFill>
              <a:srgbClr val="FF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9">
            <a:extLst>
              <a:ext uri="{FF2B5EF4-FFF2-40B4-BE49-F238E27FC236}">
                <a16:creationId xmlns:a16="http://schemas.microsoft.com/office/drawing/2014/main" id="{AC991AAA-BCE4-4EF4-8AFB-9250228A7542}"/>
              </a:ext>
            </a:extLst>
          </p:cNvPr>
          <p:cNvCxnSpPr>
            <a:cxnSpLocks/>
          </p:cNvCxnSpPr>
          <p:nvPr/>
        </p:nvCxnSpPr>
        <p:spPr>
          <a:xfrm flipH="1" flipV="1">
            <a:off x="9838316" y="3693213"/>
            <a:ext cx="868711" cy="1716505"/>
          </a:xfrm>
          <a:prstGeom prst="line">
            <a:avLst/>
          </a:prstGeom>
          <a:ln w="15875">
            <a:solidFill>
              <a:srgbClr val="FF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9">
            <a:extLst>
              <a:ext uri="{FF2B5EF4-FFF2-40B4-BE49-F238E27FC236}">
                <a16:creationId xmlns:a16="http://schemas.microsoft.com/office/drawing/2014/main" id="{C9EC1DD9-761E-480E-A384-6D0DE0A36869}"/>
              </a:ext>
            </a:extLst>
          </p:cNvPr>
          <p:cNvCxnSpPr>
            <a:cxnSpLocks/>
          </p:cNvCxnSpPr>
          <p:nvPr/>
        </p:nvCxnSpPr>
        <p:spPr>
          <a:xfrm>
            <a:off x="7170420" y="2814495"/>
            <a:ext cx="838798" cy="0"/>
          </a:xfrm>
          <a:prstGeom prst="line">
            <a:avLst/>
          </a:prstGeom>
          <a:ln w="15875">
            <a:solidFill>
              <a:srgbClr val="FF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EE3E556F-09D3-44BA-89E9-4034E7891E26}"/>
              </a:ext>
            </a:extLst>
          </p:cNvPr>
          <p:cNvSpPr txBox="1"/>
          <p:nvPr/>
        </p:nvSpPr>
        <p:spPr>
          <a:xfrm>
            <a:off x="4689893" y="2049299"/>
            <a:ext cx="2331720" cy="3508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B0B8C4"/>
            </a:solidFill>
          </a:ln>
          <a:effectLst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b="0" dirty="0">
                <a:solidFill>
                  <a:srgbClr val="9C9324"/>
                </a:solidFill>
                <a:latin typeface="Calibri"/>
              </a:rPr>
              <a:t>Pin </a:t>
            </a:r>
            <a:r>
              <a:rPr lang="en-US" b="0" dirty="0">
                <a:solidFill>
                  <a:srgbClr val="9C9324"/>
                </a:solidFill>
                <a:latin typeface="Calibri"/>
              </a:rPr>
              <a:t>9</a:t>
            </a:r>
            <a:r>
              <a:rPr b="0" dirty="0">
                <a:solidFill>
                  <a:srgbClr val="9C9324"/>
                </a:solidFill>
                <a:latin typeface="Calibri"/>
              </a:rPr>
              <a:t>→ </a:t>
            </a:r>
            <a:r>
              <a:rPr lang="en-US" b="0" dirty="0">
                <a:solidFill>
                  <a:srgbClr val="9C9324"/>
                </a:solidFill>
                <a:latin typeface="Calibri"/>
              </a:rPr>
              <a:t>+5v of Arduino</a:t>
            </a:r>
            <a:endParaRPr b="0" dirty="0">
              <a:solidFill>
                <a:srgbClr val="9C9324"/>
              </a:solidFill>
              <a:latin typeface="Calibri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D906B35-4C61-4801-81D7-3BD594DA4940}"/>
              </a:ext>
            </a:extLst>
          </p:cNvPr>
          <p:cNvSpPr txBox="1"/>
          <p:nvPr/>
        </p:nvSpPr>
        <p:spPr>
          <a:xfrm>
            <a:off x="10575632" y="2285473"/>
            <a:ext cx="1428314" cy="9048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B0B8C4"/>
            </a:solidFill>
          </a:ln>
          <a:effectLst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lang="en-US" b="0" dirty="0">
                <a:solidFill>
                  <a:srgbClr val="CC3399"/>
                </a:solidFill>
                <a:latin typeface="Calibri"/>
              </a:rPr>
              <a:t>Pin 3 → SOLAR PANEL + TERMINAL</a:t>
            </a:r>
            <a:endParaRPr b="0" dirty="0">
              <a:solidFill>
                <a:srgbClr val="CC3399"/>
              </a:solidFill>
              <a:latin typeface="Calibri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4240626-E818-4152-BAAE-C4363958B152}"/>
              </a:ext>
            </a:extLst>
          </p:cNvPr>
          <p:cNvSpPr txBox="1"/>
          <p:nvPr/>
        </p:nvSpPr>
        <p:spPr>
          <a:xfrm>
            <a:off x="9541167" y="5550951"/>
            <a:ext cx="2331720" cy="6278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B0B8C4"/>
            </a:solidFill>
          </a:ln>
          <a:effectLst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b="0" dirty="0">
                <a:solidFill>
                  <a:srgbClr val="008000"/>
                </a:solidFill>
                <a:latin typeface="Calibri"/>
              </a:rPr>
              <a:t>Pin </a:t>
            </a:r>
            <a:r>
              <a:rPr lang="en-US" b="0" dirty="0">
                <a:solidFill>
                  <a:srgbClr val="008000"/>
                </a:solidFill>
                <a:latin typeface="Calibri"/>
              </a:rPr>
              <a:t>1</a:t>
            </a:r>
            <a:r>
              <a:rPr b="0" dirty="0">
                <a:solidFill>
                  <a:srgbClr val="008000"/>
                </a:solidFill>
                <a:latin typeface="Calibri"/>
              </a:rPr>
              <a:t>  → </a:t>
            </a:r>
            <a:r>
              <a:rPr lang="en-US" dirty="0">
                <a:solidFill>
                  <a:srgbClr val="008000"/>
                </a:solidFill>
                <a:latin typeface="Calibri"/>
              </a:rPr>
              <a:t>Gate of MOSFET</a:t>
            </a:r>
            <a:endParaRPr b="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5137B41-BC6E-4969-9908-3C880134C84C}"/>
              </a:ext>
            </a:extLst>
          </p:cNvPr>
          <p:cNvSpPr txBox="1"/>
          <p:nvPr/>
        </p:nvSpPr>
        <p:spPr>
          <a:xfrm>
            <a:off x="5069436" y="3786890"/>
            <a:ext cx="2331720" cy="3508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B0B8C4"/>
            </a:solidFill>
          </a:ln>
          <a:effectLst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b="0" dirty="0">
                <a:solidFill>
                  <a:srgbClr val="00B0F0"/>
                </a:solidFill>
                <a:latin typeface="Calibri"/>
              </a:rPr>
              <a:t>Pin </a:t>
            </a:r>
            <a:r>
              <a:rPr lang="en-US" b="0" dirty="0">
                <a:solidFill>
                  <a:srgbClr val="00B0F0"/>
                </a:solidFill>
                <a:latin typeface="Calibri"/>
              </a:rPr>
              <a:t>1</a:t>
            </a:r>
            <a:r>
              <a:rPr b="0" dirty="0">
                <a:solidFill>
                  <a:srgbClr val="00B0F0"/>
                </a:solidFill>
                <a:latin typeface="Calibri"/>
              </a:rPr>
              <a:t>2 → </a:t>
            </a:r>
            <a:r>
              <a:rPr lang="en-US" b="0" dirty="0">
                <a:solidFill>
                  <a:srgbClr val="00B0F0"/>
                </a:solidFill>
                <a:latin typeface="Calibri"/>
              </a:rPr>
              <a:t>D9 Arduino</a:t>
            </a:r>
            <a:endParaRPr b="0" dirty="0">
              <a:solidFill>
                <a:srgbClr val="00B0F0"/>
              </a:solidFill>
              <a:latin typeface="Calibri"/>
            </a:endParaRPr>
          </a:p>
        </p:txBody>
      </p:sp>
      <p:cxnSp>
        <p:nvCxnSpPr>
          <p:cNvPr id="31" name="Connector 9">
            <a:extLst>
              <a:ext uri="{FF2B5EF4-FFF2-40B4-BE49-F238E27FC236}">
                <a16:creationId xmlns:a16="http://schemas.microsoft.com/office/drawing/2014/main" id="{169A2839-0F9C-4877-9BAB-6B8D1E1A24EB}"/>
              </a:ext>
            </a:extLst>
          </p:cNvPr>
          <p:cNvCxnSpPr>
            <a:cxnSpLocks/>
            <a:stCxn id="28" idx="1"/>
          </p:cNvCxnSpPr>
          <p:nvPr/>
        </p:nvCxnSpPr>
        <p:spPr>
          <a:xfrm flipH="1">
            <a:off x="9935756" y="2737905"/>
            <a:ext cx="639876" cy="305190"/>
          </a:xfrm>
          <a:prstGeom prst="line">
            <a:avLst/>
          </a:prstGeom>
          <a:ln w="15875">
            <a:solidFill>
              <a:srgbClr val="FF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342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297861D-DB78-4F8F-BC29-66627469F36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10" b="-1"/>
          <a:stretch/>
        </p:blipFill>
        <p:spPr>
          <a:xfrm>
            <a:off x="3306186" y="591671"/>
            <a:ext cx="5113463" cy="55991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1525352"/>
            <a:ext cx="2788920" cy="350865"/>
          </a:xfrm>
          <a:prstGeom prst="rect">
            <a:avLst/>
          </a:prstGeom>
          <a:solidFill>
            <a:srgbClr val="FFFFFF"/>
          </a:solidFill>
          <a:ln w="9525">
            <a:solidFill>
              <a:srgbClr val="B0B8C4"/>
            </a:solidFill>
          </a:ln>
          <a:effectLst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b="0" dirty="0">
                <a:solidFill>
                  <a:srgbClr val="333333"/>
                </a:solidFill>
                <a:latin typeface="Calibri"/>
              </a:rPr>
              <a:t>Pin 1 (LO) → R4 → Q2 Gate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108960" y="1700784"/>
            <a:ext cx="729691" cy="16459"/>
          </a:xfrm>
          <a:prstGeom prst="line">
            <a:avLst/>
          </a:prstGeom>
          <a:ln w="15875">
            <a:solidFill>
              <a:srgbClr val="FF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20040" y="2198492"/>
            <a:ext cx="2788920" cy="627864"/>
          </a:xfrm>
          <a:prstGeom prst="rect">
            <a:avLst/>
          </a:prstGeom>
          <a:solidFill>
            <a:srgbClr val="FFFFFF"/>
          </a:solidFill>
          <a:ln w="9525">
            <a:solidFill>
              <a:srgbClr val="B0B8C4"/>
            </a:solidFill>
          </a:ln>
          <a:effectLst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b="0" dirty="0">
                <a:solidFill>
                  <a:srgbClr val="333333"/>
                </a:solidFill>
                <a:latin typeface="Calibri"/>
              </a:rPr>
              <a:t>Pin 2 (COM) → Ground /</a:t>
            </a:r>
          </a:p>
          <a:p>
            <a:pPr algn="l"/>
            <a:r>
              <a:rPr b="0" dirty="0">
                <a:solidFill>
                  <a:srgbClr val="333333"/>
                </a:solidFill>
                <a:latin typeface="Calibri"/>
              </a:rPr>
              <a:t>MOSFET Source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3108960" y="2283256"/>
            <a:ext cx="729691" cy="48464"/>
          </a:xfrm>
          <a:prstGeom prst="line">
            <a:avLst/>
          </a:prstGeom>
          <a:ln w="15875">
            <a:solidFill>
              <a:srgbClr val="FF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549640" y="2083136"/>
            <a:ext cx="3200400" cy="350865"/>
          </a:xfrm>
          <a:prstGeom prst="rect">
            <a:avLst/>
          </a:prstGeom>
          <a:solidFill>
            <a:srgbClr val="FFFFFF"/>
          </a:solidFill>
          <a:ln w="9525">
            <a:solidFill>
              <a:srgbClr val="B0B8C4"/>
            </a:solidFill>
          </a:ln>
          <a:effectLst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b="0" dirty="0">
                <a:solidFill>
                  <a:srgbClr val="333333"/>
                </a:solidFill>
                <a:latin typeface="Calibri"/>
              </a:rPr>
              <a:t>Pin 13 (VSS) → Ground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7878470" y="2258568"/>
            <a:ext cx="671170" cy="24688"/>
          </a:xfrm>
          <a:prstGeom prst="line">
            <a:avLst/>
          </a:prstGeom>
          <a:ln w="15875">
            <a:solidFill>
              <a:srgbClr val="0D6E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549640" y="2601778"/>
            <a:ext cx="3200400" cy="566309"/>
          </a:xfrm>
          <a:prstGeom prst="rect">
            <a:avLst/>
          </a:prstGeom>
          <a:solidFill>
            <a:srgbClr val="FFFFFF"/>
          </a:solidFill>
          <a:ln w="9525">
            <a:solidFill>
              <a:srgbClr val="B0B8C4"/>
            </a:solidFill>
          </a:ln>
          <a:effectLst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600" b="0" dirty="0">
                <a:solidFill>
                  <a:srgbClr val="333333"/>
                </a:solidFill>
                <a:latin typeface="Calibri"/>
              </a:rPr>
              <a:t>Pin 12 (LIN) → Arduino digital pin</a:t>
            </a:r>
          </a:p>
          <a:p>
            <a:pPr algn="l"/>
            <a:r>
              <a:rPr sz="1600" b="0" dirty="0">
                <a:solidFill>
                  <a:srgbClr val="333333"/>
                </a:solidFill>
                <a:latin typeface="Calibri"/>
              </a:rPr>
              <a:t>(PWM control input)</a:t>
            </a:r>
          </a:p>
        </p:txBody>
      </p:sp>
      <p:cxnSp>
        <p:nvCxnSpPr>
          <p:cNvPr id="13" name="Connector 12"/>
          <p:cNvCxnSpPr/>
          <p:nvPr/>
        </p:nvCxnSpPr>
        <p:spPr>
          <a:xfrm flipH="1" flipV="1">
            <a:off x="7878470" y="2841955"/>
            <a:ext cx="671170" cy="38405"/>
          </a:xfrm>
          <a:prstGeom prst="line">
            <a:avLst/>
          </a:prstGeom>
          <a:ln w="15875">
            <a:solidFill>
              <a:srgbClr val="0D6E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549640" y="3290340"/>
            <a:ext cx="3200400" cy="627864"/>
          </a:xfrm>
          <a:prstGeom prst="rect">
            <a:avLst/>
          </a:prstGeom>
          <a:solidFill>
            <a:srgbClr val="FFFFFF"/>
          </a:solidFill>
          <a:ln w="9525">
            <a:solidFill>
              <a:srgbClr val="B0B8C4"/>
            </a:solidFill>
          </a:ln>
          <a:effectLst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b="0" dirty="0">
                <a:solidFill>
                  <a:srgbClr val="333333"/>
                </a:solidFill>
                <a:latin typeface="Calibri"/>
              </a:rPr>
              <a:t>Pin 11 (SD) → Arduino digital pin</a:t>
            </a:r>
          </a:p>
          <a:p>
            <a:pPr algn="l"/>
            <a:r>
              <a:rPr b="0" dirty="0">
                <a:solidFill>
                  <a:srgbClr val="333333"/>
                </a:solidFill>
                <a:latin typeface="Calibri"/>
              </a:rPr>
              <a:t>(shutdown control)</a:t>
            </a:r>
          </a:p>
        </p:txBody>
      </p:sp>
      <p:cxnSp>
        <p:nvCxnSpPr>
          <p:cNvPr id="15" name="Connector 14"/>
          <p:cNvCxnSpPr/>
          <p:nvPr/>
        </p:nvCxnSpPr>
        <p:spPr>
          <a:xfrm flipH="1" flipV="1">
            <a:off x="7878470" y="3407968"/>
            <a:ext cx="671170" cy="112472"/>
          </a:xfrm>
          <a:prstGeom prst="line">
            <a:avLst/>
          </a:prstGeom>
          <a:ln w="15875">
            <a:solidFill>
              <a:srgbClr val="0D6E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549640" y="4253497"/>
            <a:ext cx="3200400" cy="627864"/>
          </a:xfrm>
          <a:prstGeom prst="rect">
            <a:avLst/>
          </a:prstGeom>
          <a:solidFill>
            <a:srgbClr val="FFFFFF"/>
          </a:solidFill>
          <a:ln w="9525">
            <a:solidFill>
              <a:srgbClr val="B0B8C4"/>
            </a:solidFill>
          </a:ln>
          <a:effectLst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b="0" dirty="0">
                <a:solidFill>
                  <a:srgbClr val="333333"/>
                </a:solidFill>
                <a:latin typeface="Calibri"/>
              </a:rPr>
              <a:t>Pin 9 (VDD) → +5V supply</a:t>
            </a:r>
          </a:p>
          <a:p>
            <a:pPr algn="l"/>
            <a:r>
              <a:rPr b="0" dirty="0">
                <a:solidFill>
                  <a:srgbClr val="333333"/>
                </a:solidFill>
                <a:latin typeface="Calibri"/>
              </a:rPr>
              <a:t>(from Arduino)</a:t>
            </a:r>
          </a:p>
        </p:txBody>
      </p:sp>
      <p:cxnSp>
        <p:nvCxnSpPr>
          <p:cNvPr id="17" name="Connector 16"/>
          <p:cNvCxnSpPr/>
          <p:nvPr/>
        </p:nvCxnSpPr>
        <p:spPr>
          <a:xfrm flipH="1" flipV="1">
            <a:off x="7878470" y="4533595"/>
            <a:ext cx="671170" cy="10973"/>
          </a:xfrm>
          <a:prstGeom prst="line">
            <a:avLst/>
          </a:prstGeom>
          <a:ln w="15875">
            <a:solidFill>
              <a:srgbClr val="0D6E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444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768D81-D43B-4446-B2F0-636DCA079F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6800" y="-71718"/>
            <a:ext cx="96984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80362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BAB94BD4-5D6D-4148-AB57-A4CCF1FD4E0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30</TotalTime>
  <Words>200</Words>
  <Application>Microsoft Office PowerPoint</Application>
  <PresentationFormat>Widescreen</PresentationFormat>
  <Paragraphs>35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Retrospect</vt:lpstr>
      <vt:lpstr>PowerPoint Presentation</vt:lpstr>
      <vt:lpstr>Component List</vt:lpstr>
      <vt:lpstr>MBR10100CT Diode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bhashini jagodage</dc:creator>
  <cp:lastModifiedBy>bhashini jagodage</cp:lastModifiedBy>
  <cp:revision>6</cp:revision>
  <dcterms:created xsi:type="dcterms:W3CDTF">2026-07-12T19:20:56Z</dcterms:created>
  <dcterms:modified xsi:type="dcterms:W3CDTF">2026-07-12T20:12:43Z</dcterms:modified>
</cp:coreProperties>
</file>