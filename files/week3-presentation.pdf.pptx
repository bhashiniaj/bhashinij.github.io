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Cambria Math" panose="02040503050406030204" pitchFamily="18" charset="0"/>
      <p:regular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Poppins SemiBold" panose="00000700000000000000" pitchFamily="2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E57D4C-8016-49B1-BC81-614187C7C8D8}">
  <a:tblStyle styleId="{05E57D4C-8016-49B1-BC81-614187C7C8D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24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9031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FCE6-5736-4054-AB32-D82F8B549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E3A89-8C12-43EB-AFE0-3EC474467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55BD1-AFD2-4FB0-A7CF-83AF3110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A7DAF-89A1-4A07-AB28-3F3C0846A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B3274-281E-4D04-81A0-B5D9D780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CD26-21B3-45B7-8817-46D07A7B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4D63-5A5B-4A92-A32E-5A7F53B3C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E1B55-E3D6-49CB-B8F2-7DC13FDD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E8EB6-D0D3-4AA0-A335-9F6C1BF8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8FE1A-1B5A-43AF-87C8-3BE08E5C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6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1BE4-5194-48E7-AC15-12971AEDF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BA2FC-2CB4-4199-8F6C-CFD7E056C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ECB76-B418-4823-A5B3-72F51EF15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1288E-8C01-472F-9C48-2B0ED372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95B25-0228-4F81-9F29-CEB6F351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0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545A-F17B-46CF-AE92-2C31046A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B391E-B094-4758-8A8B-7C419F2C5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47979-B620-43D8-B6C8-589AA6214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3BE99-027A-45C2-9255-F3A2EBE33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94EA5-0C62-48D7-8C9D-12FD3A61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4E68-AD23-45B1-AF6D-F6F6A99B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9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9CB63-27B9-4E82-864B-DBFCC607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1868A-A152-425E-8EB9-F36F363D2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63130-9FAC-4CCF-AAE9-EC5C18C49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F6B5E-3B14-4156-ADFF-DB0A650F3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33683-23BC-4692-8C13-C0246606C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B674A4-6665-41D0-99F7-F61D1FA0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E660CC-6D42-4ED5-A239-610D1215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178AA0-8C4A-46B8-A96F-D6F748A4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7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DA22-E8E9-4B7A-BF80-D8CDC31E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9AC3F5-5F6C-4D03-8A88-B1E9039D1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7A6D0-6506-4509-B1E9-466AAD8E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C61CE-92B6-463D-9800-E46CA228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0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1BDB6-5746-4FB3-B121-2520DEDF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ED1226-E94C-4F1F-937E-E60A57521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85C05-B9B5-4C1A-808B-52E33BBA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58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D8CA-6A85-444A-B3A4-ED25210E6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1B9EE-8847-4B13-86B2-AFE705B73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FA69E-EAE9-48E7-8AA5-306F15938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96FA1-D2E6-427F-BB64-F3308E38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70261-A3C7-4D68-AD91-7D51247D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FACFF-B33B-49ED-B92B-F42A51AA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84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1908-CE2F-4C39-B984-8562FAC5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1A8C7-B71F-46B3-BFBB-9E6392AD0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4D8FE-27BD-42C4-8049-7FE04B074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73E74-CA43-4A30-B6CF-5AEFA6855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13F67-C9DA-4286-B65D-0DACC609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2E106-BF89-41D6-9BDC-30987069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964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5BE7-CA34-4B05-93AD-77E41F79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5C4B9-C0A4-434C-8A40-78F6315F6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2F78E-A988-437E-BE94-7BE7079D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5E0E6-5909-4CCC-81ED-3E41A39E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3C52A-05D6-489A-87D2-E42358E7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21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3E289-1B9D-4483-984A-38270D192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183DA-F580-48FE-91E5-AA4FB8CE8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D23B8-57A5-44A2-B6CA-2B4C78F1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3B2E7-B502-4A2F-9576-0A3EE157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914C6-5695-4D67-8D5D-915B1678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0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33D72-9E98-4F2E-827F-68DDA8066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262EE-829F-46FF-91C4-D20B0DCB2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D73D7-0390-405F-A6A0-FAC7A262B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F793F-FC66-4FBB-A585-5A9B3CBD4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E3B1F-D6E6-4BE1-9891-AFF0E28A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21000"/>
          </a:schemeClr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635317" y="2177659"/>
            <a:ext cx="10921365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PV Integrated EV System</a:t>
            </a:r>
            <a:endParaRPr dirty="0"/>
          </a:p>
        </p:txBody>
      </p:sp>
      <p:sp>
        <p:nvSpPr>
          <p:cNvPr id="6" name="Google Shape;86;p13">
            <a:extLst>
              <a:ext uri="{FF2B5EF4-FFF2-40B4-BE49-F238E27FC236}">
                <a16:creationId xmlns:a16="http://schemas.microsoft.com/office/drawing/2014/main" id="{D8C3F5F0-D0B6-48BA-8648-7D63688BD771}"/>
              </a:ext>
            </a:extLst>
          </p:cNvPr>
          <p:cNvSpPr txBox="1"/>
          <p:nvPr/>
        </p:nvSpPr>
        <p:spPr>
          <a:xfrm>
            <a:off x="2144017" y="3091755"/>
            <a:ext cx="790381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Lato"/>
                <a:ea typeface="Lato"/>
                <a:cs typeface="Lato"/>
                <a:sym typeface="Lato"/>
              </a:rPr>
              <a:t>Next-Generation 48V </a:t>
            </a:r>
            <a:r>
              <a:rPr lang="en-US" sz="1800" b="0" i="0" u="none" strike="noStrike" cap="none" dirty="0" err="1">
                <a:solidFill>
                  <a:schemeClr val="accent2">
                    <a:lumMod val="75000"/>
                  </a:schemeClr>
                </a:solidFill>
                <a:latin typeface="Lato"/>
                <a:ea typeface="Lato"/>
                <a:cs typeface="Lato"/>
                <a:sym typeface="Lato"/>
              </a:rPr>
              <a:t>LiFePO</a:t>
            </a:r>
            <a:r>
              <a:rPr lang="en-US" sz="1800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Lato"/>
                <a:ea typeface="Lato"/>
                <a:cs typeface="Lato"/>
                <a:sym typeface="Lato"/>
              </a:rPr>
              <a:t>₄ &amp; Supercapacitor Infrastructure for EV Charging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381125" y="2391667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Solar Input: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Photovoltaic panels convert sunlight to DC electricity (18–36V open circuit).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381125" y="3153667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MPPT Controller: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Maximum Power Point Tracking matches the 48V LiFePO₄ charging profile.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81125" y="3915667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Supercap Buffer: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Module absorbs rapid current surges from cloud-shade cycling.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381125" y="4677667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Battery Pack: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48V system (15S configuration) with integrated BMS protection.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43453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19653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95853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4720530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 &amp; Principle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74421-5FA6-4DC2-9191-7B378FC9FC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1075" y="2773879"/>
            <a:ext cx="3643925" cy="23693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8827"/>
            <a:ext cx="3492549" cy="310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88827"/>
            <a:ext cx="3492549" cy="310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88827"/>
            <a:ext cx="3492549" cy="31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44231" y="3365152"/>
            <a:ext cx="29470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Higher Efficiency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14400" y="3753742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Superior conversion of irradiance to electrical output under standard and low-light conditions.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22530" y="3365152"/>
            <a:ext cx="294708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Lightweight &amp; Flexible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92699" y="4047083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Conforms to curved or irregular rooftop surfaces without heavy mounting hardware.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00830" y="3365152"/>
            <a:ext cx="29470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Lower Degradation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70999" y="3753742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Longer operational lifespan with minimal performance loss over time under environmental stress.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6793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6793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6793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PV Panel Selection: Mono-Crystalline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047851"/>
            <a:ext cx="523875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114651"/>
            <a:ext cx="5238750" cy="809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6"/>
          <p:cNvGraphicFramePr/>
          <p:nvPr/>
        </p:nvGraphicFramePr>
        <p:xfrm>
          <a:off x="571500" y="2767756"/>
          <a:ext cx="5238750" cy="2143100"/>
        </p:xfrm>
        <a:graphic>
          <a:graphicData uri="http://schemas.openxmlformats.org/drawingml/2006/table">
            <a:tbl>
              <a:tblPr firstRow="1" bandRow="1">
                <a:noFill/>
                <a:tableStyleId>{05E57D4C-8016-49B1-BC81-614187C7C8D8}</a:tableStyleId>
              </a:tblPr>
              <a:tblGrid>
                <a:gridCol w="334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Solar Irradiance (G)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kW/m²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Panel Efficiency (η)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Estimated Area (A)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1.5 m²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1" name="Google Shape;131;p16"/>
          <p:cNvSpPr txBox="1"/>
          <p:nvPr/>
        </p:nvSpPr>
        <p:spPr>
          <a:xfrm>
            <a:off x="6250781" y="256401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Power Calculation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5030" y="3352651"/>
            <a:ext cx="1792039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9994" y="4419451"/>
            <a:ext cx="380226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571500" y="3848844"/>
            <a:ext cx="33490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920579" y="3848844"/>
            <a:ext cx="18896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71500" y="4372719"/>
            <a:ext cx="33490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920579" y="4372719"/>
            <a:ext cx="18896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4896594"/>
            <a:ext cx="33490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920579" y="4896594"/>
            <a:ext cx="18896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Estimated Rooftop Output Power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460623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Ensures system operates at peak efficiency during changing irradiance, temperature, and partial shading.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2867025" y="2796480"/>
            <a:ext cx="72675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Sense: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Measures PV voltage and current continuously to monitor real-time output.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2867025" y="3272730"/>
            <a:ext cx="72675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Track: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Advanced algorithms (e.g., P&amp;O) find the maximum power point on the P-V curve.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2867025" y="3748980"/>
            <a:ext cx="72675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Adjust: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Changes boost converter duty cycle to maintain the MPPT despite solar variation.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8400" y="283934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38400" y="331559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38400" y="379184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Maximum Power Point Tracking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03;p14" descr="SCC110030210 Victron MPPT 100/30A Controlador de carga solar ...">
            <a:extLst>
              <a:ext uri="{FF2B5EF4-FFF2-40B4-BE49-F238E27FC236}">
                <a16:creationId xmlns:a16="http://schemas.microsoft.com/office/drawing/2014/main" id="{3D988E6C-4237-4424-86B5-47E99886F1CC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24937" y="571500"/>
            <a:ext cx="2595563" cy="2354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9723"/>
            <a:ext cx="5381625" cy="257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49723"/>
            <a:ext cx="5381625" cy="25793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14400" y="2892623"/>
            <a:ext cx="493061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Specifications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6581775" y="2892623"/>
            <a:ext cx="493061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System Assumptions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343025" y="3357413"/>
            <a:ext cx="42672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High-Speed MOSFET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Swich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1343025" y="3833663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 Recovery Power Diode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1343025" y="4309913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Switching Frequency: 20-100 kHz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010400" y="3357413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Vin (PV): 18V – 36V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010400" y="3833663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Vout (Battery): 48V – 58.4V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010400" y="4309913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Estimated Efficiency: 90% – 95%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340027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387652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400" y="4352776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340027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1775" y="387652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4352776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DC-DC Boost Converter Hardware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6381750" y="2568773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Surge Protection &amp; Lifecycle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381750" y="2957363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EDLC (Electric Double-Layer Capacitor) module placed between MPPT and Battery: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810375" y="3681263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Reduces battery stress by 20–30%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810375" y="4157513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Handles rapid cloud-shade cycling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810375" y="4633763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Prevents LiFePO₄ micro-charging cycles</a:t>
            </a:r>
            <a:endParaRPr/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72412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200376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676626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Supercapacitor Buffer Strategy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2" descr="What are Supercapacitors? - everything PE">
            <a:extLst>
              <a:ext uri="{FF2B5EF4-FFF2-40B4-BE49-F238E27FC236}">
                <a16:creationId xmlns:a16="http://schemas.microsoft.com/office/drawing/2014/main" id="{55F0C5F7-ABC1-4A75-876E-EB6A319F4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7" y="2427130"/>
            <a:ext cx="3671164" cy="301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/>
        </p:nvSpPr>
        <p:spPr>
          <a:xfrm>
            <a:off x="761999" y="1812648"/>
            <a:ext cx="4506433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Equation used</a:t>
            </a:r>
            <a:endParaRPr sz="3600" dirty="0"/>
          </a:p>
        </p:txBody>
      </p:sp>
      <p:sp>
        <p:nvSpPr>
          <p:cNvPr id="193" name="Google Shape;193;p19"/>
          <p:cNvSpPr txBox="1"/>
          <p:nvPr/>
        </p:nvSpPr>
        <p:spPr>
          <a:xfrm>
            <a:off x="762001" y="571500"/>
            <a:ext cx="7276214" cy="53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DC-DC boost converter calculation</a:t>
            </a:r>
            <a:endParaRPr dirty="0"/>
          </a:p>
        </p:txBody>
      </p:sp>
      <p:sp>
        <p:nvSpPr>
          <p:cNvPr id="194" name="Google Shape;194;p19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48302" y="3052238"/>
                <a:ext cx="3926331" cy="11553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302" y="3052238"/>
                <a:ext cx="3926331" cy="11553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530509" y="3052238"/>
                <a:ext cx="3829830" cy="1030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509" y="3052238"/>
                <a:ext cx="3829830" cy="10302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4151" y="4747438"/>
                <a:ext cx="4437433" cy="1159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151" y="4747438"/>
                <a:ext cx="4437433" cy="1159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7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952500" y="1432619"/>
            <a:ext cx="46005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48V LiFePO₄ Solution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762000" y="1432619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1571625" y="2405955"/>
            <a:ext cx="3762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Safe &amp; Stable: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thermal runaway risk for lab or field use.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571625" y="3167955"/>
            <a:ext cx="3762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Solar-Ready: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48V standard for MPPT controllers.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571625" y="3929955"/>
            <a:ext cx="3762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Long Life: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2000–4000+ cycles for years of daily use.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571625" y="4691955"/>
            <a:ext cx="3762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Budget-Friendly: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15S pack utilizes widely available 3.2V cells.</a:t>
            </a:r>
            <a:endParaRPr/>
          </a:p>
        </p:txBody>
      </p:sp>
      <p:pic>
        <p:nvPicPr>
          <p:cNvPr id="208" name="Google Shape;20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24488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3210817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39728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473481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p21"/>
          <p:cNvGraphicFramePr/>
          <p:nvPr/>
        </p:nvGraphicFramePr>
        <p:xfrm>
          <a:off x="571500" y="2257127"/>
          <a:ext cx="11049000" cy="3164700"/>
        </p:xfrm>
        <a:graphic>
          <a:graphicData uri="http://schemas.openxmlformats.org/drawingml/2006/table">
            <a:tbl>
              <a:tblPr firstRow="1" bandRow="1">
                <a:noFill/>
                <a:tableStyleId>{05E57D4C-8016-49B1-BC81-614187C7C8D8}</a:tableStyleId>
              </a:tblPr>
              <a:tblGrid>
                <a:gridCol w="323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Vehicle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Voltage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Capacity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Chemistry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E-bicycle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24–48 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10–20 Ah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LiFePO₄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E-scooter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48–72 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24–60 Ah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Li-ion/NMC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E-rickshaw (3-whl)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48–60 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100–150 Ah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LFP / Lead-acid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Mid-range EV car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350–400 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40–82 kWh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NMC 811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Premium 800V EV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800 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77–100 kWh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NMC 811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Electric City Bus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500–700 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200–400 kWh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LFP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8" name="Google Shape;218;p21"/>
          <p:cNvSpPr/>
          <p:nvPr/>
        </p:nvSpPr>
        <p:spPr>
          <a:xfrm>
            <a:off x="571500" y="3173418"/>
            <a:ext cx="3235374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806874" y="3173418"/>
            <a:ext cx="2280046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6086921" y="3173418"/>
            <a:ext cx="2694533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8781454" y="3173418"/>
            <a:ext cx="2839045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71500" y="3619902"/>
            <a:ext cx="3235374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3806874" y="3619902"/>
            <a:ext cx="2280046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6086921" y="3619902"/>
            <a:ext cx="2694533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8781454" y="3619902"/>
            <a:ext cx="2839045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71500" y="4066387"/>
            <a:ext cx="3235374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806874" y="4066387"/>
            <a:ext cx="2280046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6086921" y="4066387"/>
            <a:ext cx="2694533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8781454" y="4066387"/>
            <a:ext cx="2839045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71500" y="4512871"/>
            <a:ext cx="3235374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806874" y="4512871"/>
            <a:ext cx="2280046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086921" y="4512871"/>
            <a:ext cx="2694533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8781454" y="4512871"/>
            <a:ext cx="2839045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71500" y="4959355"/>
            <a:ext cx="3235374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806874" y="4959355"/>
            <a:ext cx="2280046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6086921" y="4959355"/>
            <a:ext cx="2694533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8781454" y="4959355"/>
            <a:ext cx="2839045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71500" y="5405840"/>
            <a:ext cx="3235374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806874" y="5405840"/>
            <a:ext cx="2280046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6086921" y="5405840"/>
            <a:ext cx="2694533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8781454" y="5405840"/>
            <a:ext cx="2839045" cy="112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 Battery Voltage Benchmarks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92748"/>
            <a:ext cx="11049000" cy="176971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952500" y="4178498"/>
            <a:ext cx="10901362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The Efficiency Context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952500" y="4662338"/>
            <a:ext cx="10382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Based on 5 peak sun hours in Sri Lanka and a three-wheeler EV consuming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 Wh/km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The solar integration provides a significant daily offset for urban commutes.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2362200" y="2016323"/>
            <a:ext cx="1524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1.5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2362200" y="3064073"/>
            <a:ext cx="1524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kWh / Day Yield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467600" y="2016325"/>
            <a:ext cx="33312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7500" b="1" i="0" u="none" strike="noStrike" cap="non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18.7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7467600" y="3064073"/>
            <a:ext cx="2362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Daily Km Range Added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Energy Generation &amp; Driving Range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597544" y="4911005"/>
            <a:ext cx="11049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*Peripheral component pricing for BMS, MPPT and Supercapacitor modules to be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finalised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on purchasing of batch.</a:t>
            </a:r>
            <a:endParaRPr dirty="0"/>
          </a:p>
        </p:txBody>
      </p:sp>
      <p:graphicFrame>
        <p:nvGraphicFramePr>
          <p:cNvPr id="264" name="Google Shape;264;p23"/>
          <p:cNvGraphicFramePr/>
          <p:nvPr/>
        </p:nvGraphicFramePr>
        <p:xfrm>
          <a:off x="571500" y="2377380"/>
          <a:ext cx="11049000" cy="2143100"/>
        </p:xfrm>
        <a:graphic>
          <a:graphicData uri="http://schemas.openxmlformats.org/drawingml/2006/table">
            <a:tbl>
              <a:tblPr firstRow="1" bandRow="1">
                <a:noFill/>
                <a:tableStyleId>{05E57D4C-8016-49B1-BC81-614187C7C8D8}</a:tableStyleId>
              </a:tblPr>
              <a:tblGrid>
                <a:gridCol w="320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Configuration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Cells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Cost (LKR)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15S1P Basic Demo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Cells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48V / 6Ah (288 Wh)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19,350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Cell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32700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3.2V 6000mAh (5C)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1,290 / cell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Peripheral Comp.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BMS, MPPT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Solar-Ready Module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TBC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5" name="Google Shape;265;p23"/>
          <p:cNvSpPr/>
          <p:nvPr/>
        </p:nvSpPr>
        <p:spPr>
          <a:xfrm>
            <a:off x="571500" y="3458467"/>
            <a:ext cx="32014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772941" y="3458467"/>
            <a:ext cx="22931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066085" y="3458467"/>
            <a:ext cx="33801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9446269" y="3458467"/>
            <a:ext cx="2174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71500" y="3982342"/>
            <a:ext cx="32014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3772941" y="3982342"/>
            <a:ext cx="22931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066085" y="3982342"/>
            <a:ext cx="33801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9446269" y="3982342"/>
            <a:ext cx="2174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4506217"/>
            <a:ext cx="32014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772941" y="4506217"/>
            <a:ext cx="22931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6066085" y="4506217"/>
            <a:ext cx="33801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9446269" y="4506217"/>
            <a:ext cx="2174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Prototype Selection &amp; Cost</a:t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571500" y="571500"/>
            <a:ext cx="76200" cy="4399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542</Words>
  <Application>Microsoft Office PowerPoint</Application>
  <PresentationFormat>Widescreen</PresentationFormat>
  <Paragraphs>108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Poppins SemiBold</vt:lpstr>
      <vt:lpstr>Lato</vt:lpstr>
      <vt:lpstr>Calibri</vt:lpstr>
      <vt:lpstr>Calibri Light</vt:lpstr>
      <vt:lpstr>Poppins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 System</dc:creator>
  <cp:lastModifiedBy>bhashini jagodage</cp:lastModifiedBy>
  <cp:revision>8</cp:revision>
  <dcterms:modified xsi:type="dcterms:W3CDTF">2026-05-08T17:55:57Z</dcterms:modified>
</cp:coreProperties>
</file>